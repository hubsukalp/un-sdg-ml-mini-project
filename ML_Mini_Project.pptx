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OIcVPrRulNdcyPx6hVHFJ8hov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eef7b789a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9eef7b789a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9eef7b789a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9eef7b789a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9eef7b789a_0_2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9eef7b789a_0_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9eef7b789a_0_3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9eef7b789a_0_3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9eef7b789a_0_4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39eef7b789a_0_4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9eef7b789a_0_5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g39eef7b789a_0_5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9eef7b789a_0_6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g39eef7b789a_0_6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9eef7b789a_0_7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g39eef7b789a_0_7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hyperlink" Target="https://github.com/hubsukalp/UN-SDG-ML-Mini-Project" TargetMode="External"/><Relationship Id="rId5" Type="http://schemas.openxmlformats.org/officeDocument/2006/relationships/hyperlink" Target="https://drive.google.com/drive/folders/1pC8LRSIYnttLsthKAqJO0g_RU9nL3zkA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4232" y="2966411"/>
            <a:ext cx="12192000" cy="55410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and Modeling of UN Sustainable Development Goals (SDG)</a:t>
            </a:r>
            <a:endParaRPr b="0" i="0" sz="3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810324" y="5767978"/>
            <a:ext cx="6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Symbiosis Institute of Technology, Nagpur Campus</a:t>
            </a:r>
            <a:endParaRPr b="1" i="0" sz="18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33105" y="1565205"/>
            <a:ext cx="9853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Mini Project </a:t>
            </a:r>
            <a:endParaRPr sz="400"/>
          </a:p>
        </p:txBody>
      </p:sp>
      <p:sp>
        <p:nvSpPr>
          <p:cNvPr id="91" name="Google Shape;91;p1"/>
          <p:cNvSpPr txBox="1"/>
          <p:nvPr/>
        </p:nvSpPr>
        <p:spPr>
          <a:xfrm>
            <a:off x="2900995" y="3743792"/>
            <a:ext cx="6390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Sukalp Warhekar</a:t>
            </a:r>
            <a:endParaRPr sz="19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9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RN: 22070521118</a:t>
            </a:r>
            <a:endParaRPr sz="13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</a:t>
            </a:r>
            <a:r>
              <a:rPr lang="en-US" sz="19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ester: Seventh</a:t>
            </a:r>
            <a:endParaRPr sz="19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Section: C</a:t>
            </a:r>
            <a:r>
              <a:rPr b="0" i="0" lang="en-US" sz="19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9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</a:t>
            </a:r>
            <a:endParaRPr sz="13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</a:t>
            </a:r>
            <a:r>
              <a:rPr lang="en-US" sz="19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Piyush Chauhan</a:t>
            </a:r>
            <a:endParaRPr sz="1300"/>
          </a:p>
        </p:txBody>
      </p:sp>
      <p:grpSp>
        <p:nvGrpSpPr>
          <p:cNvPr id="92" name="Google Shape;92;p1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</p:grpSpPr>
        <p:sp>
          <p:nvSpPr>
            <p:cNvPr id="93" name="Google Shape;93;p1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4" name="Google Shape;94;p1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30" name="Google Shape;130;p1"/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131" name="Google Shape;131;p1"/>
            <p:cNvSpPr/>
            <p:nvPr/>
          </p:nvSpPr>
          <p:spPr>
            <a:xfrm>
              <a:off x="4744501" y="2926994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4676621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5706626" y="2927282"/>
              <a:ext cx="109764" cy="2394576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5022376" y="2926994"/>
              <a:ext cx="75101" cy="2394576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4877829" y="2926994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4559765" y="2926994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4433987" y="2926705"/>
              <a:ext cx="37550" cy="2567886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4366684" y="2927282"/>
              <a:ext cx="37550" cy="2567886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5957386" y="2926705"/>
              <a:ext cx="37550" cy="2567886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6024689" y="2926127"/>
              <a:ext cx="37550" cy="2567886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5890084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6091991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139759" y="2926994"/>
              <a:ext cx="109764" cy="2394576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280788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349773" y="2926994"/>
              <a:ext cx="109764" cy="2394576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548511" y="2927282"/>
              <a:ext cx="41911" cy="2569908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485249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616134" y="2926994"/>
              <a:ext cx="28885" cy="2567886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6838507" y="2926994"/>
              <a:ext cx="109764" cy="2394576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6980994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065051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4449" y="2926127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334914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159871" y="2926127"/>
              <a:ext cx="37550" cy="2397464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231712" y="2926127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98401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0669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516134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399205" y="2927282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5237391" y="2926127"/>
              <a:ext cx="144425" cy="2394576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5123269" y="2926994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5611343" y="2927282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5407259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5470252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5533244" y="2926127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66" name="Google Shape;16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521" y="190223"/>
            <a:ext cx="6879350" cy="9997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"/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168" name="Google Shape;168;p1"/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9" name="Google Shape;169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170" name="Google Shape;170;p1"/>
          <p:cNvSpPr txBox="1"/>
          <p:nvPr>
            <p:ph idx="12" type="sldNum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2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</p:grpSpPr>
        <p:sp>
          <p:nvSpPr>
            <p:cNvPr id="176" name="Google Shape;176;p2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7" name="Google Shape;177;p2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178" name="Google Shape;178;p2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3" name="Google Shape;213;p2"/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214" name="Google Shape;214;p2"/>
            <p:cNvSpPr/>
            <p:nvPr/>
          </p:nvSpPr>
          <p:spPr>
            <a:xfrm>
              <a:off x="4744501" y="2926994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4676621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5706626" y="2927282"/>
              <a:ext cx="109764" cy="2394576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5022376" y="2926994"/>
              <a:ext cx="75101" cy="2394576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4877829" y="2926994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4559765" y="2926994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4433987" y="2926705"/>
              <a:ext cx="37550" cy="2567886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4366684" y="2927282"/>
              <a:ext cx="37550" cy="2567886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5957386" y="2926705"/>
              <a:ext cx="37550" cy="2567886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6024689" y="2926127"/>
              <a:ext cx="37550" cy="2567886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5890084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6091991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7139759" y="2926994"/>
              <a:ext cx="109764" cy="2394576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7280788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7349773" y="2926994"/>
              <a:ext cx="109764" cy="2394576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7548511" y="2927282"/>
              <a:ext cx="41911" cy="2569908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7485249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7616134" y="2926994"/>
              <a:ext cx="28885" cy="2567886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6838507" y="2926994"/>
              <a:ext cx="109764" cy="2394576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6980994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7065051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6754449" y="2926127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6334914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6159871" y="2926127"/>
              <a:ext cx="37550" cy="2397464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6231712" y="2926127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6598401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6680669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6516134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6399205" y="2927282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5237391" y="2926127"/>
              <a:ext cx="144425" cy="2394576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5123269" y="2926994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5611343" y="2927282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5407259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5470252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5533244" y="2926127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49" name="Google Shape;249;p2"/>
          <p:cNvSpPr/>
          <p:nvPr/>
        </p:nvSpPr>
        <p:spPr>
          <a:xfrm>
            <a:off x="0" y="-699"/>
            <a:ext cx="12191999" cy="64633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Objectives and Dataset</a:t>
            </a:r>
            <a:endParaRPr sz="35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"/>
          <p:cNvSpPr txBox="1"/>
          <p:nvPr/>
        </p:nvSpPr>
        <p:spPr>
          <a:xfrm>
            <a:off x="4815838" y="958648"/>
            <a:ext cx="128016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51" name="Google Shape;251;p2"/>
          <p:cNvSpPr txBox="1"/>
          <p:nvPr/>
        </p:nvSpPr>
        <p:spPr>
          <a:xfrm>
            <a:off x="7483294" y="2282149"/>
            <a:ext cx="128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"/>
          <p:cNvSpPr txBox="1"/>
          <p:nvPr/>
        </p:nvSpPr>
        <p:spPr>
          <a:xfrm>
            <a:off x="6095999" y="4927086"/>
            <a:ext cx="128016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53" name="Google Shape;253;p2"/>
          <p:cNvSpPr/>
          <p:nvPr/>
        </p:nvSpPr>
        <p:spPr>
          <a:xfrm>
            <a:off x="7788323" y="3758972"/>
            <a:ext cx="3610596" cy="952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"/>
          <p:cNvSpPr/>
          <p:nvPr/>
        </p:nvSpPr>
        <p:spPr>
          <a:xfrm>
            <a:off x="1960267" y="4958610"/>
            <a:ext cx="3610596" cy="952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"/>
          <p:cNvSpPr/>
          <p:nvPr/>
        </p:nvSpPr>
        <p:spPr>
          <a:xfrm>
            <a:off x="5133215" y="3730542"/>
            <a:ext cx="668338" cy="687387"/>
          </a:xfrm>
          <a:custGeom>
            <a:rect b="b" l="l" r="r" t="t"/>
            <a:pathLst>
              <a:path extrusionOk="0" h="3464" w="3366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"/>
          <p:cNvSpPr/>
          <p:nvPr/>
        </p:nvSpPr>
        <p:spPr>
          <a:xfrm>
            <a:off x="5130834" y="2538361"/>
            <a:ext cx="673100" cy="503238"/>
          </a:xfrm>
          <a:custGeom>
            <a:rect b="b" l="l" r="r" t="t"/>
            <a:pathLst>
              <a:path extrusionOk="0" h="2540" w="339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" name="Google Shape;257;p2"/>
          <p:cNvGrpSpPr/>
          <p:nvPr/>
        </p:nvGrpSpPr>
        <p:grpSpPr>
          <a:xfrm>
            <a:off x="6345373" y="2438267"/>
            <a:ext cx="713404" cy="692800"/>
            <a:chOff x="638" y="291"/>
            <a:chExt cx="554" cy="538"/>
          </a:xfrm>
        </p:grpSpPr>
        <p:sp>
          <p:nvSpPr>
            <p:cNvPr id="258" name="Google Shape;258;p2"/>
            <p:cNvSpPr/>
            <p:nvPr/>
          </p:nvSpPr>
          <p:spPr>
            <a:xfrm>
              <a:off x="1120" y="444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1120" y="517"/>
              <a:ext cx="57" cy="62"/>
            </a:xfrm>
            <a:custGeom>
              <a:rect b="b" l="l" r="r" t="t"/>
              <a:pathLst>
                <a:path extrusionOk="0" h="372" w="341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1120" y="590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1120" y="339"/>
              <a:ext cx="72" cy="72"/>
            </a:xfrm>
            <a:custGeom>
              <a:rect b="b" l="l" r="r" t="t"/>
              <a:pathLst>
                <a:path extrusionOk="0" h="433" w="43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865" y="291"/>
              <a:ext cx="245" cy="420"/>
            </a:xfrm>
            <a:custGeom>
              <a:rect b="b" l="l" r="r" t="t"/>
              <a:pathLst>
                <a:path extrusionOk="0" h="2521" w="1472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638" y="439"/>
              <a:ext cx="403" cy="390"/>
            </a:xfrm>
            <a:custGeom>
              <a:rect b="b" l="l" r="r" t="t"/>
              <a:pathLst>
                <a:path extrusionOk="0" h="2337" w="2416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2"/>
          <p:cNvSpPr/>
          <p:nvPr/>
        </p:nvSpPr>
        <p:spPr>
          <a:xfrm>
            <a:off x="6549005" y="3730542"/>
            <a:ext cx="355600" cy="695325"/>
          </a:xfrm>
          <a:custGeom>
            <a:rect b="b" l="l" r="r" t="t"/>
            <a:pathLst>
              <a:path extrusionOk="0" h="3502" w="179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"/>
          <p:cNvSpPr txBox="1"/>
          <p:nvPr>
            <p:ph idx="12" type="sldNum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2"/>
          <p:cNvSpPr txBox="1"/>
          <p:nvPr/>
        </p:nvSpPr>
        <p:spPr>
          <a:xfrm>
            <a:off x="182575" y="1350649"/>
            <a:ext cx="11835300" cy="3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➢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conduct a comprehensive machine learning analysis of the UN SDG dataset (2015-2024) to build and validate predictive models.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➢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Raw UN SDG data containing multi-year observations for 255 countries across hundreds of indicators.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➢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project implements a complete data science workflow, covering the three primary types of machine learning: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predict the numerical value of an indicator.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Clustering: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discover hidden groups of similar countries.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predict the performance category of an indicator.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g39eef7b789a_0_1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273" name="Google Shape;273;g39eef7b789a_0_1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74" name="Google Shape;274;g39eef7b789a_0_1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275" name="Google Shape;275;g39eef7b789a_0_1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6" name="Google Shape;276;g39eef7b789a_0_1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7" name="Google Shape;277;g39eef7b789a_0_1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8" name="Google Shape;278;g39eef7b789a_0_1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9" name="Google Shape;279;g39eef7b789a_0_1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0" name="Google Shape;280;g39eef7b789a_0_1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1" name="Google Shape;281;g39eef7b789a_0_1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2" name="Google Shape;282;g39eef7b789a_0_1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3" name="Google Shape;283;g39eef7b789a_0_1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4" name="Google Shape;284;g39eef7b789a_0_1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5" name="Google Shape;285;g39eef7b789a_0_1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6" name="Google Shape;286;g39eef7b789a_0_1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7" name="Google Shape;287;g39eef7b789a_0_1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8" name="Google Shape;288;g39eef7b789a_0_1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9" name="Google Shape;289;g39eef7b789a_0_1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0" name="Google Shape;290;g39eef7b789a_0_1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1" name="Google Shape;291;g39eef7b789a_0_1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2" name="Google Shape;292;g39eef7b789a_0_1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3" name="Google Shape;293;g39eef7b789a_0_1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4" name="Google Shape;294;g39eef7b789a_0_1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5" name="Google Shape;295;g39eef7b789a_0_1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6" name="Google Shape;296;g39eef7b789a_0_1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7" name="Google Shape;297;g39eef7b789a_0_1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8" name="Google Shape;298;g39eef7b789a_0_1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9" name="Google Shape;299;g39eef7b789a_0_1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0" name="Google Shape;300;g39eef7b789a_0_1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1" name="Google Shape;301;g39eef7b789a_0_1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2" name="Google Shape;302;g39eef7b789a_0_1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3" name="Google Shape;303;g39eef7b789a_0_1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4" name="Google Shape;304;g39eef7b789a_0_1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5" name="Google Shape;305;g39eef7b789a_0_1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6" name="Google Shape;306;g39eef7b789a_0_1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7" name="Google Shape;307;g39eef7b789a_0_1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8" name="Google Shape;308;g39eef7b789a_0_1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9" name="Google Shape;309;g39eef7b789a_0_1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10" name="Google Shape;310;g39eef7b789a_0_1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311" name="Google Shape;311;g39eef7b789a_0_10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2" name="Google Shape;312;g39eef7b789a_0_10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3" name="Google Shape;313;g39eef7b789a_0_10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4" name="Google Shape;314;g39eef7b789a_0_10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5" name="Google Shape;315;g39eef7b789a_0_10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6" name="Google Shape;316;g39eef7b789a_0_10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7" name="Google Shape;317;g39eef7b789a_0_10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8" name="Google Shape;318;g39eef7b789a_0_10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9" name="Google Shape;319;g39eef7b789a_0_10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0" name="Google Shape;320;g39eef7b789a_0_10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1" name="Google Shape;321;g39eef7b789a_0_10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" name="Google Shape;322;g39eef7b789a_0_10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" name="Google Shape;323;g39eef7b789a_0_10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" name="Google Shape;324;g39eef7b789a_0_10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5" name="Google Shape;325;g39eef7b789a_0_10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6" name="Google Shape;326;g39eef7b789a_0_10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7" name="Google Shape;327;g39eef7b789a_0_10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8" name="Google Shape;328;g39eef7b789a_0_10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" name="Google Shape;329;g39eef7b789a_0_10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" name="Google Shape;330;g39eef7b789a_0_10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" name="Google Shape;331;g39eef7b789a_0_10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" name="Google Shape;332;g39eef7b789a_0_10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" name="Google Shape;333;g39eef7b789a_0_10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" name="Google Shape;334;g39eef7b789a_0_10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" name="Google Shape;335;g39eef7b789a_0_10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" name="Google Shape;336;g39eef7b789a_0_10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7" name="Google Shape;337;g39eef7b789a_0_10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8" name="Google Shape;338;g39eef7b789a_0_10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9" name="Google Shape;339;g39eef7b789a_0_10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" name="Google Shape;340;g39eef7b789a_0_10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" name="Google Shape;341;g39eef7b789a_0_10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" name="Google Shape;342;g39eef7b789a_0_10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" name="Google Shape;343;g39eef7b789a_0_10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" name="Google Shape;344;g39eef7b789a_0_10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" name="Google Shape;345;g39eef7b789a_0_10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46" name="Google Shape;346;g39eef7b789a_0_10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Preparation &amp; Workflow</a:t>
            </a:r>
            <a:endParaRPr sz="35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g39eef7b789a_0_10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48" name="Google Shape;348;g39eef7b789a_0_10"/>
          <p:cNvSpPr txBox="1"/>
          <p:nvPr/>
        </p:nvSpPr>
        <p:spPr>
          <a:xfrm>
            <a:off x="7483294" y="2282149"/>
            <a:ext cx="128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9eef7b789a_0_10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50" name="Google Shape;350;g39eef7b789a_0_10"/>
          <p:cNvSpPr/>
          <p:nvPr/>
        </p:nvSpPr>
        <p:spPr>
          <a:xfrm>
            <a:off x="7788323" y="3758972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9eef7b789a_0_10"/>
          <p:cNvSpPr/>
          <p:nvPr/>
        </p:nvSpPr>
        <p:spPr>
          <a:xfrm>
            <a:off x="1960267" y="4958610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9eef7b789a_0_10"/>
          <p:cNvSpPr/>
          <p:nvPr/>
        </p:nvSpPr>
        <p:spPr>
          <a:xfrm>
            <a:off x="5133215" y="3730542"/>
            <a:ext cx="668336" cy="687388"/>
          </a:xfrm>
          <a:custGeom>
            <a:rect b="b" l="l" r="r" t="t"/>
            <a:pathLst>
              <a:path extrusionOk="0" h="3464" w="3366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9eef7b789a_0_10"/>
          <p:cNvSpPr/>
          <p:nvPr/>
        </p:nvSpPr>
        <p:spPr>
          <a:xfrm>
            <a:off x="5130834" y="2538361"/>
            <a:ext cx="673101" cy="503238"/>
          </a:xfrm>
          <a:custGeom>
            <a:rect b="b" l="l" r="r" t="t"/>
            <a:pathLst>
              <a:path extrusionOk="0" h="2540" w="339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4" name="Google Shape;354;g39eef7b789a_0_10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355" name="Google Shape;355;g39eef7b789a_0_10"/>
            <p:cNvSpPr/>
            <p:nvPr/>
          </p:nvSpPr>
          <p:spPr>
            <a:xfrm>
              <a:off x="1120" y="444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g39eef7b789a_0_10"/>
            <p:cNvSpPr/>
            <p:nvPr/>
          </p:nvSpPr>
          <p:spPr>
            <a:xfrm>
              <a:off x="1120" y="517"/>
              <a:ext cx="57" cy="62"/>
            </a:xfrm>
            <a:custGeom>
              <a:rect b="b" l="l" r="r" t="t"/>
              <a:pathLst>
                <a:path extrusionOk="0" h="372" w="341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g39eef7b789a_0_10"/>
            <p:cNvSpPr/>
            <p:nvPr/>
          </p:nvSpPr>
          <p:spPr>
            <a:xfrm>
              <a:off x="1120" y="590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g39eef7b789a_0_10"/>
            <p:cNvSpPr/>
            <p:nvPr/>
          </p:nvSpPr>
          <p:spPr>
            <a:xfrm>
              <a:off x="1120" y="339"/>
              <a:ext cx="72" cy="73"/>
            </a:xfrm>
            <a:custGeom>
              <a:rect b="b" l="l" r="r" t="t"/>
              <a:pathLst>
                <a:path extrusionOk="0" h="433" w="43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g39eef7b789a_0_10"/>
            <p:cNvSpPr/>
            <p:nvPr/>
          </p:nvSpPr>
          <p:spPr>
            <a:xfrm>
              <a:off x="865" y="291"/>
              <a:ext cx="247" cy="422"/>
            </a:xfrm>
            <a:custGeom>
              <a:rect b="b" l="l" r="r" t="t"/>
              <a:pathLst>
                <a:path extrusionOk="0" h="2521" w="1472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g39eef7b789a_0_10"/>
            <p:cNvSpPr/>
            <p:nvPr/>
          </p:nvSpPr>
          <p:spPr>
            <a:xfrm>
              <a:off x="638" y="439"/>
              <a:ext cx="405" cy="391"/>
            </a:xfrm>
            <a:custGeom>
              <a:rect b="b" l="l" r="r" t="t"/>
              <a:pathLst>
                <a:path extrusionOk="0" h="2337" w="2416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g39eef7b789a_0_10"/>
          <p:cNvSpPr/>
          <p:nvPr/>
        </p:nvSpPr>
        <p:spPr>
          <a:xfrm>
            <a:off x="6549005" y="3730542"/>
            <a:ext cx="355601" cy="695322"/>
          </a:xfrm>
          <a:custGeom>
            <a:rect b="b" l="l" r="r" t="t"/>
            <a:pathLst>
              <a:path extrusionOk="0" h="3502" w="179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g39eef7b789a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g39eef7b789a_0_10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g39eef7b789a_0_10"/>
          <p:cNvSpPr txBox="1"/>
          <p:nvPr/>
        </p:nvSpPr>
        <p:spPr>
          <a:xfrm>
            <a:off x="166350" y="1358775"/>
            <a:ext cx="11835300" cy="46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Loading: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Loaded the raw dataset from Google Drive (Raw Dataset_UN_SDG.csv).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Handled missing values (OBS_VALUE) and removed statistical outliers using the Interquartile Range (IQR) method.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Engineering: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Normalized the OBS_VALUE target variable using StandardScaler for use in modeling.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Encoding: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Converted all categorical/text features (like REF_AREA_LABEL, INDICATOR_LABEL, etc.) into numerical codes using pd.factorize. This created a feature set of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 numerical columns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the models to learn from.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AutoNum type="arabicPeriod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Dataset: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Cleaned_Preprocessed_Dataset_UN_SDG.csv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g39eef7b789a_0_115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370" name="Google Shape;370;g39eef7b789a_0_115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71" name="Google Shape;371;g39eef7b789a_0_115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372" name="Google Shape;372;g39eef7b789a_0_115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3" name="Google Shape;373;g39eef7b789a_0_115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4" name="Google Shape;374;g39eef7b789a_0_115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5" name="Google Shape;375;g39eef7b789a_0_115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6" name="Google Shape;376;g39eef7b789a_0_115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7" name="Google Shape;377;g39eef7b789a_0_115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8" name="Google Shape;378;g39eef7b789a_0_115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9" name="Google Shape;379;g39eef7b789a_0_115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0" name="Google Shape;380;g39eef7b789a_0_115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1" name="Google Shape;381;g39eef7b789a_0_115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2" name="Google Shape;382;g39eef7b789a_0_115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3" name="Google Shape;383;g39eef7b789a_0_115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4" name="Google Shape;384;g39eef7b789a_0_115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5" name="Google Shape;385;g39eef7b789a_0_115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6" name="Google Shape;386;g39eef7b789a_0_115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7" name="Google Shape;387;g39eef7b789a_0_115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8" name="Google Shape;388;g39eef7b789a_0_115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9" name="Google Shape;389;g39eef7b789a_0_115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0" name="Google Shape;390;g39eef7b789a_0_115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1" name="Google Shape;391;g39eef7b789a_0_115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2" name="Google Shape;392;g39eef7b789a_0_115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3" name="Google Shape;393;g39eef7b789a_0_115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4" name="Google Shape;394;g39eef7b789a_0_115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5" name="Google Shape;395;g39eef7b789a_0_115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6" name="Google Shape;396;g39eef7b789a_0_115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7" name="Google Shape;397;g39eef7b789a_0_115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8" name="Google Shape;398;g39eef7b789a_0_115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9" name="Google Shape;399;g39eef7b789a_0_115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0" name="Google Shape;400;g39eef7b789a_0_115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1" name="Google Shape;401;g39eef7b789a_0_115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2" name="Google Shape;402;g39eef7b789a_0_115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3" name="Google Shape;403;g39eef7b789a_0_115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4" name="Google Shape;404;g39eef7b789a_0_115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5" name="Google Shape;405;g39eef7b789a_0_115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6" name="Google Shape;406;g39eef7b789a_0_115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407" name="Google Shape;407;g39eef7b789a_0_115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408" name="Google Shape;408;g39eef7b789a_0_115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9" name="Google Shape;409;g39eef7b789a_0_115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" name="Google Shape;410;g39eef7b789a_0_115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1" name="Google Shape;411;g39eef7b789a_0_115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2" name="Google Shape;412;g39eef7b789a_0_115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" name="Google Shape;413;g39eef7b789a_0_115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4" name="Google Shape;414;g39eef7b789a_0_115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5" name="Google Shape;415;g39eef7b789a_0_115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6" name="Google Shape;416;g39eef7b789a_0_115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7" name="Google Shape;417;g39eef7b789a_0_115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8" name="Google Shape;418;g39eef7b789a_0_115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9" name="Google Shape;419;g39eef7b789a_0_115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0" name="Google Shape;420;g39eef7b789a_0_115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1" name="Google Shape;421;g39eef7b789a_0_115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2" name="Google Shape;422;g39eef7b789a_0_115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3" name="Google Shape;423;g39eef7b789a_0_115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4" name="Google Shape;424;g39eef7b789a_0_115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5" name="Google Shape;425;g39eef7b789a_0_115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6" name="Google Shape;426;g39eef7b789a_0_115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7" name="Google Shape;427;g39eef7b789a_0_115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8" name="Google Shape;428;g39eef7b789a_0_115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9" name="Google Shape;429;g39eef7b789a_0_115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0" name="Google Shape;430;g39eef7b789a_0_115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1" name="Google Shape;431;g39eef7b789a_0_115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2" name="Google Shape;432;g39eef7b789a_0_115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3" name="Google Shape;433;g39eef7b789a_0_115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4" name="Google Shape;434;g39eef7b789a_0_115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5" name="Google Shape;435;g39eef7b789a_0_115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6" name="Google Shape;436;g39eef7b789a_0_115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7" name="Google Shape;437;g39eef7b789a_0_115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8" name="Google Shape;438;g39eef7b789a_0_115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9" name="Google Shape;439;g39eef7b789a_0_115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0" name="Google Shape;440;g39eef7b789a_0_115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1" name="Google Shape;441;g39eef7b789a_0_115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2" name="Google Shape;442;g39eef7b789a_0_115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43" name="Google Shape;443;g39eef7b789a_0_115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1 - Regression (Predicting Indicator Values)</a:t>
            </a:r>
            <a:endParaRPr sz="35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g39eef7b789a_0_115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445" name="Google Shape;445;g39eef7b789a_0_115"/>
          <p:cNvSpPr txBox="1"/>
          <p:nvPr/>
        </p:nvSpPr>
        <p:spPr>
          <a:xfrm>
            <a:off x="7483294" y="2282149"/>
            <a:ext cx="128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9eef7b789a_0_115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447" name="Google Shape;447;g39eef7b789a_0_115"/>
          <p:cNvSpPr/>
          <p:nvPr/>
        </p:nvSpPr>
        <p:spPr>
          <a:xfrm>
            <a:off x="7788323" y="3758972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9eef7b789a_0_115"/>
          <p:cNvSpPr/>
          <p:nvPr/>
        </p:nvSpPr>
        <p:spPr>
          <a:xfrm>
            <a:off x="1960267" y="4958610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39eef7b789a_0_115"/>
          <p:cNvSpPr/>
          <p:nvPr/>
        </p:nvSpPr>
        <p:spPr>
          <a:xfrm>
            <a:off x="5133215" y="3730542"/>
            <a:ext cx="668336" cy="687388"/>
          </a:xfrm>
          <a:custGeom>
            <a:rect b="b" l="l" r="r" t="t"/>
            <a:pathLst>
              <a:path extrusionOk="0" h="3464" w="3366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9eef7b789a_0_115"/>
          <p:cNvSpPr/>
          <p:nvPr/>
        </p:nvSpPr>
        <p:spPr>
          <a:xfrm>
            <a:off x="5130834" y="2538361"/>
            <a:ext cx="673101" cy="503238"/>
          </a:xfrm>
          <a:custGeom>
            <a:rect b="b" l="l" r="r" t="t"/>
            <a:pathLst>
              <a:path extrusionOk="0" h="2540" w="339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1" name="Google Shape;451;g39eef7b789a_0_115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452" name="Google Shape;452;g39eef7b789a_0_115"/>
            <p:cNvSpPr/>
            <p:nvPr/>
          </p:nvSpPr>
          <p:spPr>
            <a:xfrm>
              <a:off x="1120" y="444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g39eef7b789a_0_115"/>
            <p:cNvSpPr/>
            <p:nvPr/>
          </p:nvSpPr>
          <p:spPr>
            <a:xfrm>
              <a:off x="1120" y="517"/>
              <a:ext cx="57" cy="62"/>
            </a:xfrm>
            <a:custGeom>
              <a:rect b="b" l="l" r="r" t="t"/>
              <a:pathLst>
                <a:path extrusionOk="0" h="372" w="341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g39eef7b789a_0_115"/>
            <p:cNvSpPr/>
            <p:nvPr/>
          </p:nvSpPr>
          <p:spPr>
            <a:xfrm>
              <a:off x="1120" y="590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g39eef7b789a_0_115"/>
            <p:cNvSpPr/>
            <p:nvPr/>
          </p:nvSpPr>
          <p:spPr>
            <a:xfrm>
              <a:off x="1120" y="339"/>
              <a:ext cx="72" cy="73"/>
            </a:xfrm>
            <a:custGeom>
              <a:rect b="b" l="l" r="r" t="t"/>
              <a:pathLst>
                <a:path extrusionOk="0" h="433" w="43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g39eef7b789a_0_115"/>
            <p:cNvSpPr/>
            <p:nvPr/>
          </p:nvSpPr>
          <p:spPr>
            <a:xfrm>
              <a:off x="865" y="291"/>
              <a:ext cx="247" cy="422"/>
            </a:xfrm>
            <a:custGeom>
              <a:rect b="b" l="l" r="r" t="t"/>
              <a:pathLst>
                <a:path extrusionOk="0" h="2521" w="1472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g39eef7b789a_0_115"/>
            <p:cNvSpPr/>
            <p:nvPr/>
          </p:nvSpPr>
          <p:spPr>
            <a:xfrm>
              <a:off x="638" y="439"/>
              <a:ext cx="405" cy="391"/>
            </a:xfrm>
            <a:custGeom>
              <a:rect b="b" l="l" r="r" t="t"/>
              <a:pathLst>
                <a:path extrusionOk="0" h="2337" w="2416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8" name="Google Shape;458;g39eef7b789a_0_115"/>
          <p:cNvSpPr/>
          <p:nvPr/>
        </p:nvSpPr>
        <p:spPr>
          <a:xfrm>
            <a:off x="6549005" y="3730542"/>
            <a:ext cx="355601" cy="695322"/>
          </a:xfrm>
          <a:custGeom>
            <a:rect b="b" l="l" r="r" t="t"/>
            <a:pathLst>
              <a:path extrusionOk="0" h="3502" w="179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g39eef7b789a_0_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39eef7b789a_0_115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1" name="Google Shape;461;g39eef7b789a_0_115"/>
          <p:cNvSpPr txBox="1"/>
          <p:nvPr/>
        </p:nvSpPr>
        <p:spPr>
          <a:xfrm>
            <a:off x="253225" y="1561838"/>
            <a:ext cx="11694000" cy="3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train a model to accurately predict the OBS_VALUE of an indicator.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Used: 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RandomForestRegressor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initial Linear Regression model was tested but was found to be underfitting, with an R² score of only ~5%.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Random Forest model proved to be highly effective and solved the underfitting problem.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Performance Metric: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R-squared (R²) Score: 81.2%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Interpretation: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model can successfully explain 81.2% of the variance in the data, confirming it is a robust and accurate predictor.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Google Shape;466;g39eef7b789a_0_219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467" name="Google Shape;467;g39eef7b789a_0_219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68" name="Google Shape;468;g39eef7b789a_0_219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469" name="Google Shape;469;g39eef7b789a_0_219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0" name="Google Shape;470;g39eef7b789a_0_219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1" name="Google Shape;471;g39eef7b789a_0_219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2" name="Google Shape;472;g39eef7b789a_0_219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3" name="Google Shape;473;g39eef7b789a_0_219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4" name="Google Shape;474;g39eef7b789a_0_219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5" name="Google Shape;475;g39eef7b789a_0_219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6" name="Google Shape;476;g39eef7b789a_0_219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7" name="Google Shape;477;g39eef7b789a_0_219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8" name="Google Shape;478;g39eef7b789a_0_219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9" name="Google Shape;479;g39eef7b789a_0_219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0" name="Google Shape;480;g39eef7b789a_0_219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1" name="Google Shape;481;g39eef7b789a_0_219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2" name="Google Shape;482;g39eef7b789a_0_219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3" name="Google Shape;483;g39eef7b789a_0_219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4" name="Google Shape;484;g39eef7b789a_0_219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5" name="Google Shape;485;g39eef7b789a_0_219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6" name="Google Shape;486;g39eef7b789a_0_219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7" name="Google Shape;487;g39eef7b789a_0_219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8" name="Google Shape;488;g39eef7b789a_0_219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9" name="Google Shape;489;g39eef7b789a_0_219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0" name="Google Shape;490;g39eef7b789a_0_219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1" name="Google Shape;491;g39eef7b789a_0_219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2" name="Google Shape;492;g39eef7b789a_0_219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3" name="Google Shape;493;g39eef7b789a_0_219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4" name="Google Shape;494;g39eef7b789a_0_219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5" name="Google Shape;495;g39eef7b789a_0_219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6" name="Google Shape;496;g39eef7b789a_0_219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7" name="Google Shape;497;g39eef7b789a_0_219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8" name="Google Shape;498;g39eef7b789a_0_219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9" name="Google Shape;499;g39eef7b789a_0_219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0" name="Google Shape;500;g39eef7b789a_0_219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1" name="Google Shape;501;g39eef7b789a_0_219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2" name="Google Shape;502;g39eef7b789a_0_219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3" name="Google Shape;503;g39eef7b789a_0_219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04" name="Google Shape;504;g39eef7b789a_0_219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505" name="Google Shape;505;g39eef7b789a_0_219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6" name="Google Shape;506;g39eef7b789a_0_219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7" name="Google Shape;507;g39eef7b789a_0_219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8" name="Google Shape;508;g39eef7b789a_0_219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9" name="Google Shape;509;g39eef7b789a_0_219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0" name="Google Shape;510;g39eef7b789a_0_219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1" name="Google Shape;511;g39eef7b789a_0_219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2" name="Google Shape;512;g39eef7b789a_0_219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3" name="Google Shape;513;g39eef7b789a_0_219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4" name="Google Shape;514;g39eef7b789a_0_219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5" name="Google Shape;515;g39eef7b789a_0_219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6" name="Google Shape;516;g39eef7b789a_0_219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7" name="Google Shape;517;g39eef7b789a_0_219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8" name="Google Shape;518;g39eef7b789a_0_219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9" name="Google Shape;519;g39eef7b789a_0_219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0" name="Google Shape;520;g39eef7b789a_0_219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1" name="Google Shape;521;g39eef7b789a_0_219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2" name="Google Shape;522;g39eef7b789a_0_219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3" name="Google Shape;523;g39eef7b789a_0_219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4" name="Google Shape;524;g39eef7b789a_0_219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5" name="Google Shape;525;g39eef7b789a_0_219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6" name="Google Shape;526;g39eef7b789a_0_219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7" name="Google Shape;527;g39eef7b789a_0_219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8" name="Google Shape;528;g39eef7b789a_0_219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9" name="Google Shape;529;g39eef7b789a_0_219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0" name="Google Shape;530;g39eef7b789a_0_219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1" name="Google Shape;531;g39eef7b789a_0_219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2" name="Google Shape;532;g39eef7b789a_0_219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3" name="Google Shape;533;g39eef7b789a_0_219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4" name="Google Shape;534;g39eef7b789a_0_219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5" name="Google Shape;535;g39eef7b789a_0_219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6" name="Google Shape;536;g39eef7b789a_0_219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7" name="Google Shape;537;g39eef7b789a_0_219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8" name="Google Shape;538;g39eef7b789a_0_219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9" name="Google Shape;539;g39eef7b789a_0_219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40" name="Google Shape;540;g39eef7b789a_0_219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2 - Clustering (Finding Country Profiles)</a:t>
            </a:r>
            <a:endParaRPr sz="35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g39eef7b789a_0_219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542" name="Google Shape;542;g39eef7b789a_0_219"/>
          <p:cNvSpPr txBox="1"/>
          <p:nvPr/>
        </p:nvSpPr>
        <p:spPr>
          <a:xfrm>
            <a:off x="7483294" y="2282149"/>
            <a:ext cx="128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9eef7b789a_0_219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44" name="Google Shape;544;g39eef7b789a_0_219"/>
          <p:cNvSpPr/>
          <p:nvPr/>
        </p:nvSpPr>
        <p:spPr>
          <a:xfrm>
            <a:off x="7788323" y="3758972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9eef7b789a_0_219"/>
          <p:cNvSpPr/>
          <p:nvPr/>
        </p:nvSpPr>
        <p:spPr>
          <a:xfrm>
            <a:off x="1960267" y="4958610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9eef7b789a_0_219"/>
          <p:cNvSpPr/>
          <p:nvPr/>
        </p:nvSpPr>
        <p:spPr>
          <a:xfrm>
            <a:off x="5133215" y="3730542"/>
            <a:ext cx="668336" cy="687388"/>
          </a:xfrm>
          <a:custGeom>
            <a:rect b="b" l="l" r="r" t="t"/>
            <a:pathLst>
              <a:path extrusionOk="0" h="3464" w="3366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9eef7b789a_0_219"/>
          <p:cNvSpPr/>
          <p:nvPr/>
        </p:nvSpPr>
        <p:spPr>
          <a:xfrm>
            <a:off x="5130834" y="2538361"/>
            <a:ext cx="673101" cy="503238"/>
          </a:xfrm>
          <a:custGeom>
            <a:rect b="b" l="l" r="r" t="t"/>
            <a:pathLst>
              <a:path extrusionOk="0" h="2540" w="339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8" name="Google Shape;548;g39eef7b789a_0_219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549" name="Google Shape;549;g39eef7b789a_0_219"/>
            <p:cNvSpPr/>
            <p:nvPr/>
          </p:nvSpPr>
          <p:spPr>
            <a:xfrm>
              <a:off x="1120" y="444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g39eef7b789a_0_219"/>
            <p:cNvSpPr/>
            <p:nvPr/>
          </p:nvSpPr>
          <p:spPr>
            <a:xfrm>
              <a:off x="1120" y="517"/>
              <a:ext cx="57" cy="62"/>
            </a:xfrm>
            <a:custGeom>
              <a:rect b="b" l="l" r="r" t="t"/>
              <a:pathLst>
                <a:path extrusionOk="0" h="372" w="341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g39eef7b789a_0_219"/>
            <p:cNvSpPr/>
            <p:nvPr/>
          </p:nvSpPr>
          <p:spPr>
            <a:xfrm>
              <a:off x="1120" y="590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g39eef7b789a_0_219"/>
            <p:cNvSpPr/>
            <p:nvPr/>
          </p:nvSpPr>
          <p:spPr>
            <a:xfrm>
              <a:off x="1120" y="339"/>
              <a:ext cx="72" cy="73"/>
            </a:xfrm>
            <a:custGeom>
              <a:rect b="b" l="l" r="r" t="t"/>
              <a:pathLst>
                <a:path extrusionOk="0" h="433" w="43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g39eef7b789a_0_219"/>
            <p:cNvSpPr/>
            <p:nvPr/>
          </p:nvSpPr>
          <p:spPr>
            <a:xfrm>
              <a:off x="865" y="291"/>
              <a:ext cx="247" cy="422"/>
            </a:xfrm>
            <a:custGeom>
              <a:rect b="b" l="l" r="r" t="t"/>
              <a:pathLst>
                <a:path extrusionOk="0" h="2521" w="1472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g39eef7b789a_0_219"/>
            <p:cNvSpPr/>
            <p:nvPr/>
          </p:nvSpPr>
          <p:spPr>
            <a:xfrm>
              <a:off x="638" y="439"/>
              <a:ext cx="405" cy="391"/>
            </a:xfrm>
            <a:custGeom>
              <a:rect b="b" l="l" r="r" t="t"/>
              <a:pathLst>
                <a:path extrusionOk="0" h="2337" w="2416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5" name="Google Shape;555;g39eef7b789a_0_219"/>
          <p:cNvSpPr/>
          <p:nvPr/>
        </p:nvSpPr>
        <p:spPr>
          <a:xfrm>
            <a:off x="6549005" y="3730542"/>
            <a:ext cx="355601" cy="695322"/>
          </a:xfrm>
          <a:custGeom>
            <a:rect b="b" l="l" r="r" t="t"/>
            <a:pathLst>
              <a:path extrusionOk="0" h="3502" w="179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6" name="Google Shape;556;g39eef7b789a_0_2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9eef7b789a_0_219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8" name="Google Shape;558;g39eef7b789a_0_219"/>
          <p:cNvSpPr txBox="1"/>
          <p:nvPr/>
        </p:nvSpPr>
        <p:spPr>
          <a:xfrm>
            <a:off x="166350" y="1654200"/>
            <a:ext cx="7376100" cy="41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use unsupervised learning to discover natural groupings of countries based on their SDG profiles.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Used: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K-Means Clustering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Pivoting: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Transformed the data so each row represented a single country and columns represented key indicators.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Optimal K: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the "Elbow Method" to determine the optimal number of clusters. The plot showed a clear elbow, and K=4 was chosen.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9" name="Google Shape;559;g39eef7b789a_0_2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6325" y="1861675"/>
            <a:ext cx="4319751" cy="298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" name="Google Shape;564;g39eef7b789a_0_321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565" name="Google Shape;565;g39eef7b789a_0_321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66" name="Google Shape;566;g39eef7b789a_0_321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567" name="Google Shape;567;g39eef7b789a_0_321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8" name="Google Shape;568;g39eef7b789a_0_321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9" name="Google Shape;569;g39eef7b789a_0_321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0" name="Google Shape;570;g39eef7b789a_0_321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1" name="Google Shape;571;g39eef7b789a_0_321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2" name="Google Shape;572;g39eef7b789a_0_321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3" name="Google Shape;573;g39eef7b789a_0_321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4" name="Google Shape;574;g39eef7b789a_0_321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5" name="Google Shape;575;g39eef7b789a_0_321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6" name="Google Shape;576;g39eef7b789a_0_321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7" name="Google Shape;577;g39eef7b789a_0_321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8" name="Google Shape;578;g39eef7b789a_0_321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9" name="Google Shape;579;g39eef7b789a_0_321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0" name="Google Shape;580;g39eef7b789a_0_321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1" name="Google Shape;581;g39eef7b789a_0_321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2" name="Google Shape;582;g39eef7b789a_0_321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3" name="Google Shape;583;g39eef7b789a_0_321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4" name="Google Shape;584;g39eef7b789a_0_321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5" name="Google Shape;585;g39eef7b789a_0_321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6" name="Google Shape;586;g39eef7b789a_0_321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7" name="Google Shape;587;g39eef7b789a_0_321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8" name="Google Shape;588;g39eef7b789a_0_321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9" name="Google Shape;589;g39eef7b789a_0_321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0" name="Google Shape;590;g39eef7b789a_0_321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1" name="Google Shape;591;g39eef7b789a_0_321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2" name="Google Shape;592;g39eef7b789a_0_321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3" name="Google Shape;593;g39eef7b789a_0_321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4" name="Google Shape;594;g39eef7b789a_0_321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5" name="Google Shape;595;g39eef7b789a_0_321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6" name="Google Shape;596;g39eef7b789a_0_321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7" name="Google Shape;597;g39eef7b789a_0_321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8" name="Google Shape;598;g39eef7b789a_0_321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9" name="Google Shape;599;g39eef7b789a_0_321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0" name="Google Shape;600;g39eef7b789a_0_321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1" name="Google Shape;601;g39eef7b789a_0_321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602" name="Google Shape;602;g39eef7b789a_0_321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603" name="Google Shape;603;g39eef7b789a_0_321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4" name="Google Shape;604;g39eef7b789a_0_321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5" name="Google Shape;605;g39eef7b789a_0_321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6" name="Google Shape;606;g39eef7b789a_0_321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7" name="Google Shape;607;g39eef7b789a_0_321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8" name="Google Shape;608;g39eef7b789a_0_321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9" name="Google Shape;609;g39eef7b789a_0_321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0" name="Google Shape;610;g39eef7b789a_0_321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1" name="Google Shape;611;g39eef7b789a_0_321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2" name="Google Shape;612;g39eef7b789a_0_321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3" name="Google Shape;613;g39eef7b789a_0_321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4" name="Google Shape;614;g39eef7b789a_0_321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5" name="Google Shape;615;g39eef7b789a_0_321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6" name="Google Shape;616;g39eef7b789a_0_321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7" name="Google Shape;617;g39eef7b789a_0_321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8" name="Google Shape;618;g39eef7b789a_0_321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9" name="Google Shape;619;g39eef7b789a_0_321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0" name="Google Shape;620;g39eef7b789a_0_321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1" name="Google Shape;621;g39eef7b789a_0_321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2" name="Google Shape;622;g39eef7b789a_0_321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3" name="Google Shape;623;g39eef7b789a_0_321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4" name="Google Shape;624;g39eef7b789a_0_321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5" name="Google Shape;625;g39eef7b789a_0_321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6" name="Google Shape;626;g39eef7b789a_0_321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7" name="Google Shape;627;g39eef7b789a_0_321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8" name="Google Shape;628;g39eef7b789a_0_321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9" name="Google Shape;629;g39eef7b789a_0_321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0" name="Google Shape;630;g39eef7b789a_0_321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1" name="Google Shape;631;g39eef7b789a_0_321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2" name="Google Shape;632;g39eef7b789a_0_321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3" name="Google Shape;633;g39eef7b789a_0_321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4" name="Google Shape;634;g39eef7b789a_0_321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5" name="Google Shape;635;g39eef7b789a_0_321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6" name="Google Shape;636;g39eef7b789a_0_321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7" name="Google Shape;637;g39eef7b789a_0_321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38" name="Google Shape;638;g39eef7b789a_0_321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2 - Clustering Results &amp; Interpretation</a:t>
            </a:r>
            <a:endParaRPr sz="35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9" name="Google Shape;639;g39eef7b789a_0_321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640" name="Google Shape;640;g39eef7b789a_0_321"/>
          <p:cNvSpPr txBox="1"/>
          <p:nvPr/>
        </p:nvSpPr>
        <p:spPr>
          <a:xfrm>
            <a:off x="7483294" y="2282149"/>
            <a:ext cx="128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g39eef7b789a_0_321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642" name="Google Shape;642;g39eef7b789a_0_321"/>
          <p:cNvSpPr/>
          <p:nvPr/>
        </p:nvSpPr>
        <p:spPr>
          <a:xfrm>
            <a:off x="7788323" y="3758972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9eef7b789a_0_321"/>
          <p:cNvSpPr/>
          <p:nvPr/>
        </p:nvSpPr>
        <p:spPr>
          <a:xfrm>
            <a:off x="1960267" y="4958610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9eef7b789a_0_321"/>
          <p:cNvSpPr/>
          <p:nvPr/>
        </p:nvSpPr>
        <p:spPr>
          <a:xfrm>
            <a:off x="5133215" y="3730542"/>
            <a:ext cx="668336" cy="687388"/>
          </a:xfrm>
          <a:custGeom>
            <a:rect b="b" l="l" r="r" t="t"/>
            <a:pathLst>
              <a:path extrusionOk="0" h="3464" w="3366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g39eef7b789a_0_321"/>
          <p:cNvSpPr/>
          <p:nvPr/>
        </p:nvSpPr>
        <p:spPr>
          <a:xfrm>
            <a:off x="5130834" y="2538361"/>
            <a:ext cx="673101" cy="503238"/>
          </a:xfrm>
          <a:custGeom>
            <a:rect b="b" l="l" r="r" t="t"/>
            <a:pathLst>
              <a:path extrusionOk="0" h="2540" w="339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6" name="Google Shape;646;g39eef7b789a_0_321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647" name="Google Shape;647;g39eef7b789a_0_321"/>
            <p:cNvSpPr/>
            <p:nvPr/>
          </p:nvSpPr>
          <p:spPr>
            <a:xfrm>
              <a:off x="1120" y="444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g39eef7b789a_0_321"/>
            <p:cNvSpPr/>
            <p:nvPr/>
          </p:nvSpPr>
          <p:spPr>
            <a:xfrm>
              <a:off x="1120" y="517"/>
              <a:ext cx="57" cy="62"/>
            </a:xfrm>
            <a:custGeom>
              <a:rect b="b" l="l" r="r" t="t"/>
              <a:pathLst>
                <a:path extrusionOk="0" h="372" w="341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g39eef7b789a_0_321"/>
            <p:cNvSpPr/>
            <p:nvPr/>
          </p:nvSpPr>
          <p:spPr>
            <a:xfrm>
              <a:off x="1120" y="590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g39eef7b789a_0_321"/>
            <p:cNvSpPr/>
            <p:nvPr/>
          </p:nvSpPr>
          <p:spPr>
            <a:xfrm>
              <a:off x="1120" y="339"/>
              <a:ext cx="72" cy="73"/>
            </a:xfrm>
            <a:custGeom>
              <a:rect b="b" l="l" r="r" t="t"/>
              <a:pathLst>
                <a:path extrusionOk="0" h="433" w="43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g39eef7b789a_0_321"/>
            <p:cNvSpPr/>
            <p:nvPr/>
          </p:nvSpPr>
          <p:spPr>
            <a:xfrm>
              <a:off x="865" y="291"/>
              <a:ext cx="247" cy="422"/>
            </a:xfrm>
            <a:custGeom>
              <a:rect b="b" l="l" r="r" t="t"/>
              <a:pathLst>
                <a:path extrusionOk="0" h="2521" w="1472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g39eef7b789a_0_321"/>
            <p:cNvSpPr/>
            <p:nvPr/>
          </p:nvSpPr>
          <p:spPr>
            <a:xfrm>
              <a:off x="638" y="439"/>
              <a:ext cx="405" cy="391"/>
            </a:xfrm>
            <a:custGeom>
              <a:rect b="b" l="l" r="r" t="t"/>
              <a:pathLst>
                <a:path extrusionOk="0" h="2337" w="2416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3" name="Google Shape;653;g39eef7b789a_0_321"/>
          <p:cNvSpPr/>
          <p:nvPr/>
        </p:nvSpPr>
        <p:spPr>
          <a:xfrm>
            <a:off x="6549005" y="3730542"/>
            <a:ext cx="355601" cy="695322"/>
          </a:xfrm>
          <a:custGeom>
            <a:rect b="b" l="l" r="r" t="t"/>
            <a:pathLst>
              <a:path extrusionOk="0" h="3502" w="179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4" name="Google Shape;654;g39eef7b789a_0_3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g39eef7b789a_0_321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6" name="Google Shape;656;g39eef7b789a_0_321"/>
          <p:cNvSpPr txBox="1"/>
          <p:nvPr/>
        </p:nvSpPr>
        <p:spPr>
          <a:xfrm>
            <a:off x="104400" y="1458525"/>
            <a:ext cx="7292100" cy="43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successfully segmented 255 countries into four distinct, meaningful profiles.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Profiles: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1 (Aid-Reliant Nations):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 malnutrition and very high levels of official agricultural aid.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3 (High Malnutrition - Overweight Nations):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Very high malnutrition (likely overweight) but average aid levels.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2 (Food-Stable Nations):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Very low food price anomalies (stable food prices).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0 (Global Mix):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Represents the "average" global profile.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7" name="Google Shape;657;g39eef7b789a_0_3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0250" y="1840000"/>
            <a:ext cx="4401249" cy="3379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2" name="Google Shape;662;g39eef7b789a_0_421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663" name="Google Shape;663;g39eef7b789a_0_421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664" name="Google Shape;664;g39eef7b789a_0_421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665" name="Google Shape;665;g39eef7b789a_0_421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6" name="Google Shape;666;g39eef7b789a_0_421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7" name="Google Shape;667;g39eef7b789a_0_421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8" name="Google Shape;668;g39eef7b789a_0_421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9" name="Google Shape;669;g39eef7b789a_0_421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0" name="Google Shape;670;g39eef7b789a_0_421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1" name="Google Shape;671;g39eef7b789a_0_421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2" name="Google Shape;672;g39eef7b789a_0_421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3" name="Google Shape;673;g39eef7b789a_0_421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4" name="Google Shape;674;g39eef7b789a_0_421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5" name="Google Shape;675;g39eef7b789a_0_421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6" name="Google Shape;676;g39eef7b789a_0_421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7" name="Google Shape;677;g39eef7b789a_0_421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8" name="Google Shape;678;g39eef7b789a_0_421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9" name="Google Shape;679;g39eef7b789a_0_421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0" name="Google Shape;680;g39eef7b789a_0_421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1" name="Google Shape;681;g39eef7b789a_0_421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2" name="Google Shape;682;g39eef7b789a_0_421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3" name="Google Shape;683;g39eef7b789a_0_421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4" name="Google Shape;684;g39eef7b789a_0_421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5" name="Google Shape;685;g39eef7b789a_0_421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6" name="Google Shape;686;g39eef7b789a_0_421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7" name="Google Shape;687;g39eef7b789a_0_421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8" name="Google Shape;688;g39eef7b789a_0_421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9" name="Google Shape;689;g39eef7b789a_0_421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0" name="Google Shape;690;g39eef7b789a_0_421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1" name="Google Shape;691;g39eef7b789a_0_421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2" name="Google Shape;692;g39eef7b789a_0_421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3" name="Google Shape;693;g39eef7b789a_0_421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4" name="Google Shape;694;g39eef7b789a_0_421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5" name="Google Shape;695;g39eef7b789a_0_421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6" name="Google Shape;696;g39eef7b789a_0_421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7" name="Google Shape;697;g39eef7b789a_0_421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8" name="Google Shape;698;g39eef7b789a_0_421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9" name="Google Shape;699;g39eef7b789a_0_421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700" name="Google Shape;700;g39eef7b789a_0_421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701" name="Google Shape;701;g39eef7b789a_0_421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2" name="Google Shape;702;g39eef7b789a_0_421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3" name="Google Shape;703;g39eef7b789a_0_421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4" name="Google Shape;704;g39eef7b789a_0_421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5" name="Google Shape;705;g39eef7b789a_0_421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6" name="Google Shape;706;g39eef7b789a_0_421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7" name="Google Shape;707;g39eef7b789a_0_421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8" name="Google Shape;708;g39eef7b789a_0_421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9" name="Google Shape;709;g39eef7b789a_0_421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0" name="Google Shape;710;g39eef7b789a_0_421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1" name="Google Shape;711;g39eef7b789a_0_421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2" name="Google Shape;712;g39eef7b789a_0_421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3" name="Google Shape;713;g39eef7b789a_0_421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4" name="Google Shape;714;g39eef7b789a_0_421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5" name="Google Shape;715;g39eef7b789a_0_421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6" name="Google Shape;716;g39eef7b789a_0_421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7" name="Google Shape;717;g39eef7b789a_0_421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8" name="Google Shape;718;g39eef7b789a_0_421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9" name="Google Shape;719;g39eef7b789a_0_421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0" name="Google Shape;720;g39eef7b789a_0_421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1" name="Google Shape;721;g39eef7b789a_0_421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2" name="Google Shape;722;g39eef7b789a_0_421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3" name="Google Shape;723;g39eef7b789a_0_421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4" name="Google Shape;724;g39eef7b789a_0_421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5" name="Google Shape;725;g39eef7b789a_0_421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6" name="Google Shape;726;g39eef7b789a_0_421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7" name="Google Shape;727;g39eef7b789a_0_421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8" name="Google Shape;728;g39eef7b789a_0_421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9" name="Google Shape;729;g39eef7b789a_0_421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0" name="Google Shape;730;g39eef7b789a_0_421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1" name="Google Shape;731;g39eef7b789a_0_421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2" name="Google Shape;732;g39eef7b789a_0_421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3" name="Google Shape;733;g39eef7b789a_0_421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4" name="Google Shape;734;g39eef7b789a_0_421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5" name="Google Shape;735;g39eef7b789a_0_421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736" name="Google Shape;736;g39eef7b789a_0_421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3 - Classification (Predicting Performance Categories)</a:t>
            </a:r>
            <a:endParaRPr sz="30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7" name="Google Shape;737;g39eef7b789a_0_421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738" name="Google Shape;738;g39eef7b789a_0_421"/>
          <p:cNvSpPr txBox="1"/>
          <p:nvPr/>
        </p:nvSpPr>
        <p:spPr>
          <a:xfrm>
            <a:off x="7483294" y="2282149"/>
            <a:ext cx="128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g39eef7b789a_0_421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740" name="Google Shape;740;g39eef7b789a_0_421"/>
          <p:cNvSpPr/>
          <p:nvPr/>
        </p:nvSpPr>
        <p:spPr>
          <a:xfrm>
            <a:off x="7788323" y="3758972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g39eef7b789a_0_421"/>
          <p:cNvSpPr/>
          <p:nvPr/>
        </p:nvSpPr>
        <p:spPr>
          <a:xfrm>
            <a:off x="1960267" y="4958610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39eef7b789a_0_421"/>
          <p:cNvSpPr/>
          <p:nvPr/>
        </p:nvSpPr>
        <p:spPr>
          <a:xfrm>
            <a:off x="5133215" y="3730542"/>
            <a:ext cx="668336" cy="687388"/>
          </a:xfrm>
          <a:custGeom>
            <a:rect b="b" l="l" r="r" t="t"/>
            <a:pathLst>
              <a:path extrusionOk="0" h="3464" w="3366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g39eef7b789a_0_421"/>
          <p:cNvSpPr/>
          <p:nvPr/>
        </p:nvSpPr>
        <p:spPr>
          <a:xfrm>
            <a:off x="5130834" y="2538361"/>
            <a:ext cx="673101" cy="503238"/>
          </a:xfrm>
          <a:custGeom>
            <a:rect b="b" l="l" r="r" t="t"/>
            <a:pathLst>
              <a:path extrusionOk="0" h="2540" w="339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4" name="Google Shape;744;g39eef7b789a_0_421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745" name="Google Shape;745;g39eef7b789a_0_421"/>
            <p:cNvSpPr/>
            <p:nvPr/>
          </p:nvSpPr>
          <p:spPr>
            <a:xfrm>
              <a:off x="1120" y="444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g39eef7b789a_0_421"/>
            <p:cNvSpPr/>
            <p:nvPr/>
          </p:nvSpPr>
          <p:spPr>
            <a:xfrm>
              <a:off x="1120" y="517"/>
              <a:ext cx="57" cy="62"/>
            </a:xfrm>
            <a:custGeom>
              <a:rect b="b" l="l" r="r" t="t"/>
              <a:pathLst>
                <a:path extrusionOk="0" h="372" w="341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g39eef7b789a_0_421"/>
            <p:cNvSpPr/>
            <p:nvPr/>
          </p:nvSpPr>
          <p:spPr>
            <a:xfrm>
              <a:off x="1120" y="590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g39eef7b789a_0_421"/>
            <p:cNvSpPr/>
            <p:nvPr/>
          </p:nvSpPr>
          <p:spPr>
            <a:xfrm>
              <a:off x="1120" y="339"/>
              <a:ext cx="72" cy="73"/>
            </a:xfrm>
            <a:custGeom>
              <a:rect b="b" l="l" r="r" t="t"/>
              <a:pathLst>
                <a:path extrusionOk="0" h="433" w="43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g39eef7b789a_0_421"/>
            <p:cNvSpPr/>
            <p:nvPr/>
          </p:nvSpPr>
          <p:spPr>
            <a:xfrm>
              <a:off x="865" y="291"/>
              <a:ext cx="247" cy="422"/>
            </a:xfrm>
            <a:custGeom>
              <a:rect b="b" l="l" r="r" t="t"/>
              <a:pathLst>
                <a:path extrusionOk="0" h="2521" w="1472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g39eef7b789a_0_421"/>
            <p:cNvSpPr/>
            <p:nvPr/>
          </p:nvSpPr>
          <p:spPr>
            <a:xfrm>
              <a:off x="638" y="439"/>
              <a:ext cx="405" cy="391"/>
            </a:xfrm>
            <a:custGeom>
              <a:rect b="b" l="l" r="r" t="t"/>
              <a:pathLst>
                <a:path extrusionOk="0" h="2337" w="2416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1" name="Google Shape;751;g39eef7b789a_0_421"/>
          <p:cNvSpPr/>
          <p:nvPr/>
        </p:nvSpPr>
        <p:spPr>
          <a:xfrm>
            <a:off x="6549005" y="3730542"/>
            <a:ext cx="355601" cy="695322"/>
          </a:xfrm>
          <a:custGeom>
            <a:rect b="b" l="l" r="r" t="t"/>
            <a:pathLst>
              <a:path extrusionOk="0" h="3502" w="179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2" name="Google Shape;752;g39eef7b789a_0_4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g39eef7b789a_0_421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4" name="Google Shape;754;g39eef7b789a_0_421"/>
          <p:cNvSpPr txBox="1"/>
          <p:nvPr/>
        </p:nvSpPr>
        <p:spPr>
          <a:xfrm>
            <a:off x="104400" y="1230725"/>
            <a:ext cx="7046700" cy="48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train a model to classify an indicator's performance as "Low," "Medium," or "High."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Used: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RandomForestClassifier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new target variable was created by binning the OBS_VALUE_scaled into three categories.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model demonstrated high accuracy and reliability.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Performance Metric: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Accuracy: 85.7%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Interpretation: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model can correctly predict the performance category 85.7% of the time. The Classification Report shows high precision and recall, meaning the model is balanced and not just guessing.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5" name="Google Shape;755;g39eef7b789a_0_4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3300" y="2053425"/>
            <a:ext cx="4602499" cy="2406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0" name="Google Shape;760;g39eef7b789a_0_524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761" name="Google Shape;761;g39eef7b789a_0_524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762" name="Google Shape;762;g39eef7b789a_0_524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763" name="Google Shape;763;g39eef7b789a_0_524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4" name="Google Shape;764;g39eef7b789a_0_524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5" name="Google Shape;765;g39eef7b789a_0_524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6" name="Google Shape;766;g39eef7b789a_0_524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7" name="Google Shape;767;g39eef7b789a_0_524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8" name="Google Shape;768;g39eef7b789a_0_524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9" name="Google Shape;769;g39eef7b789a_0_524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0" name="Google Shape;770;g39eef7b789a_0_524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1" name="Google Shape;771;g39eef7b789a_0_524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2" name="Google Shape;772;g39eef7b789a_0_524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3" name="Google Shape;773;g39eef7b789a_0_524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4" name="Google Shape;774;g39eef7b789a_0_524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5" name="Google Shape;775;g39eef7b789a_0_524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6" name="Google Shape;776;g39eef7b789a_0_524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7" name="Google Shape;777;g39eef7b789a_0_524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8" name="Google Shape;778;g39eef7b789a_0_524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9" name="Google Shape;779;g39eef7b789a_0_524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0" name="Google Shape;780;g39eef7b789a_0_524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1" name="Google Shape;781;g39eef7b789a_0_524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2" name="Google Shape;782;g39eef7b789a_0_524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3" name="Google Shape;783;g39eef7b789a_0_524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4" name="Google Shape;784;g39eef7b789a_0_524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5" name="Google Shape;785;g39eef7b789a_0_524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6" name="Google Shape;786;g39eef7b789a_0_524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7" name="Google Shape;787;g39eef7b789a_0_524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8" name="Google Shape;788;g39eef7b789a_0_524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9" name="Google Shape;789;g39eef7b789a_0_524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0" name="Google Shape;790;g39eef7b789a_0_524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1" name="Google Shape;791;g39eef7b789a_0_524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2" name="Google Shape;792;g39eef7b789a_0_524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3" name="Google Shape;793;g39eef7b789a_0_524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4" name="Google Shape;794;g39eef7b789a_0_524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5" name="Google Shape;795;g39eef7b789a_0_524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6" name="Google Shape;796;g39eef7b789a_0_524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7" name="Google Shape;797;g39eef7b789a_0_524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798" name="Google Shape;798;g39eef7b789a_0_524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799" name="Google Shape;799;g39eef7b789a_0_524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0" name="Google Shape;800;g39eef7b789a_0_524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1" name="Google Shape;801;g39eef7b789a_0_524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2" name="Google Shape;802;g39eef7b789a_0_524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3" name="Google Shape;803;g39eef7b789a_0_524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4" name="Google Shape;804;g39eef7b789a_0_524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5" name="Google Shape;805;g39eef7b789a_0_524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6" name="Google Shape;806;g39eef7b789a_0_524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7" name="Google Shape;807;g39eef7b789a_0_524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8" name="Google Shape;808;g39eef7b789a_0_524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9" name="Google Shape;809;g39eef7b789a_0_524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0" name="Google Shape;810;g39eef7b789a_0_524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1" name="Google Shape;811;g39eef7b789a_0_524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2" name="Google Shape;812;g39eef7b789a_0_524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3" name="Google Shape;813;g39eef7b789a_0_524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4" name="Google Shape;814;g39eef7b789a_0_524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5" name="Google Shape;815;g39eef7b789a_0_524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6" name="Google Shape;816;g39eef7b789a_0_524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7" name="Google Shape;817;g39eef7b789a_0_524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8" name="Google Shape;818;g39eef7b789a_0_524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9" name="Google Shape;819;g39eef7b789a_0_524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0" name="Google Shape;820;g39eef7b789a_0_524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1" name="Google Shape;821;g39eef7b789a_0_524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2" name="Google Shape;822;g39eef7b789a_0_524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3" name="Google Shape;823;g39eef7b789a_0_524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4" name="Google Shape;824;g39eef7b789a_0_524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5" name="Google Shape;825;g39eef7b789a_0_524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6" name="Google Shape;826;g39eef7b789a_0_524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7" name="Google Shape;827;g39eef7b789a_0_524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8" name="Google Shape;828;g39eef7b789a_0_524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9" name="Google Shape;829;g39eef7b789a_0_524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0" name="Google Shape;830;g39eef7b789a_0_524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1" name="Google Shape;831;g39eef7b789a_0_524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2" name="Google Shape;832;g39eef7b789a_0_524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3" name="Google Shape;833;g39eef7b789a_0_524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34" name="Google Shape;834;g39eef7b789a_0_524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3 - Classification Results (Confusion Matrix)</a:t>
            </a:r>
            <a:endParaRPr sz="30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5" name="Google Shape;835;g39eef7b789a_0_524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836" name="Google Shape;836;g39eef7b789a_0_524"/>
          <p:cNvSpPr txBox="1"/>
          <p:nvPr/>
        </p:nvSpPr>
        <p:spPr>
          <a:xfrm>
            <a:off x="7483294" y="2282149"/>
            <a:ext cx="128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g39eef7b789a_0_524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838" name="Google Shape;838;g39eef7b789a_0_524"/>
          <p:cNvSpPr/>
          <p:nvPr/>
        </p:nvSpPr>
        <p:spPr>
          <a:xfrm>
            <a:off x="1960267" y="4958610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g39eef7b789a_0_524"/>
          <p:cNvSpPr/>
          <p:nvPr/>
        </p:nvSpPr>
        <p:spPr>
          <a:xfrm>
            <a:off x="5133215" y="3730542"/>
            <a:ext cx="668336" cy="687388"/>
          </a:xfrm>
          <a:custGeom>
            <a:rect b="b" l="l" r="r" t="t"/>
            <a:pathLst>
              <a:path extrusionOk="0" h="3464" w="3366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g39eef7b789a_0_524"/>
          <p:cNvSpPr/>
          <p:nvPr/>
        </p:nvSpPr>
        <p:spPr>
          <a:xfrm>
            <a:off x="5130834" y="2538361"/>
            <a:ext cx="673101" cy="503238"/>
          </a:xfrm>
          <a:custGeom>
            <a:rect b="b" l="l" r="r" t="t"/>
            <a:pathLst>
              <a:path extrusionOk="0" h="2540" w="339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1" name="Google Shape;841;g39eef7b789a_0_524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842" name="Google Shape;842;g39eef7b789a_0_524"/>
            <p:cNvSpPr/>
            <p:nvPr/>
          </p:nvSpPr>
          <p:spPr>
            <a:xfrm>
              <a:off x="1120" y="444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g39eef7b789a_0_524"/>
            <p:cNvSpPr/>
            <p:nvPr/>
          </p:nvSpPr>
          <p:spPr>
            <a:xfrm>
              <a:off x="1120" y="517"/>
              <a:ext cx="57" cy="62"/>
            </a:xfrm>
            <a:custGeom>
              <a:rect b="b" l="l" r="r" t="t"/>
              <a:pathLst>
                <a:path extrusionOk="0" h="372" w="341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g39eef7b789a_0_524"/>
            <p:cNvSpPr/>
            <p:nvPr/>
          </p:nvSpPr>
          <p:spPr>
            <a:xfrm>
              <a:off x="1120" y="590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g39eef7b789a_0_524"/>
            <p:cNvSpPr/>
            <p:nvPr/>
          </p:nvSpPr>
          <p:spPr>
            <a:xfrm>
              <a:off x="1120" y="339"/>
              <a:ext cx="72" cy="73"/>
            </a:xfrm>
            <a:custGeom>
              <a:rect b="b" l="l" r="r" t="t"/>
              <a:pathLst>
                <a:path extrusionOk="0" h="433" w="43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g39eef7b789a_0_524"/>
            <p:cNvSpPr/>
            <p:nvPr/>
          </p:nvSpPr>
          <p:spPr>
            <a:xfrm>
              <a:off x="865" y="291"/>
              <a:ext cx="247" cy="422"/>
            </a:xfrm>
            <a:custGeom>
              <a:rect b="b" l="l" r="r" t="t"/>
              <a:pathLst>
                <a:path extrusionOk="0" h="2521" w="1472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g39eef7b789a_0_524"/>
            <p:cNvSpPr/>
            <p:nvPr/>
          </p:nvSpPr>
          <p:spPr>
            <a:xfrm>
              <a:off x="638" y="439"/>
              <a:ext cx="405" cy="391"/>
            </a:xfrm>
            <a:custGeom>
              <a:rect b="b" l="l" r="r" t="t"/>
              <a:pathLst>
                <a:path extrusionOk="0" h="2337" w="2416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8" name="Google Shape;848;g39eef7b789a_0_524"/>
          <p:cNvSpPr/>
          <p:nvPr/>
        </p:nvSpPr>
        <p:spPr>
          <a:xfrm>
            <a:off x="6549005" y="3730542"/>
            <a:ext cx="355601" cy="695322"/>
          </a:xfrm>
          <a:custGeom>
            <a:rect b="b" l="l" r="r" t="t"/>
            <a:pathLst>
              <a:path extrusionOk="0" h="3502" w="179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9" name="Google Shape;849;g39eef7b789a_0_5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g39eef7b789a_0_524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1" name="Google Shape;851;g39eef7b789a_0_524"/>
          <p:cNvSpPr txBox="1"/>
          <p:nvPr/>
        </p:nvSpPr>
        <p:spPr>
          <a:xfrm>
            <a:off x="104400" y="1759675"/>
            <a:ext cx="6800400" cy="3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Confusion Matrix visualizes the model's accuracy, showing correct predictions vs. errors.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strong diagonal line shows a high number of correct predictions (e.g., 5,565 "Medium" values were correctly identified as "Medium").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off-diagonal numbers (the errors) are extremely low in comparison, confirming the model's high precision.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2" name="Google Shape;852;g39eef7b789a_0_5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3300" y="1626703"/>
            <a:ext cx="4437725" cy="3436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7" name="Google Shape;857;g39eef7b789a_0_625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858" name="Google Shape;858;g39eef7b789a_0_625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859" name="Google Shape;859;g39eef7b789a_0_625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860" name="Google Shape;860;g39eef7b789a_0_625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1" name="Google Shape;861;g39eef7b789a_0_625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2" name="Google Shape;862;g39eef7b789a_0_625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3" name="Google Shape;863;g39eef7b789a_0_625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4" name="Google Shape;864;g39eef7b789a_0_625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5" name="Google Shape;865;g39eef7b789a_0_625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6" name="Google Shape;866;g39eef7b789a_0_625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7" name="Google Shape;867;g39eef7b789a_0_625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8" name="Google Shape;868;g39eef7b789a_0_625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9" name="Google Shape;869;g39eef7b789a_0_625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0" name="Google Shape;870;g39eef7b789a_0_625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1" name="Google Shape;871;g39eef7b789a_0_625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2" name="Google Shape;872;g39eef7b789a_0_625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3" name="Google Shape;873;g39eef7b789a_0_625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4" name="Google Shape;874;g39eef7b789a_0_625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5" name="Google Shape;875;g39eef7b789a_0_625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6" name="Google Shape;876;g39eef7b789a_0_625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7" name="Google Shape;877;g39eef7b789a_0_625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8" name="Google Shape;878;g39eef7b789a_0_625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9" name="Google Shape;879;g39eef7b789a_0_625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0" name="Google Shape;880;g39eef7b789a_0_625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1" name="Google Shape;881;g39eef7b789a_0_625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2" name="Google Shape;882;g39eef7b789a_0_625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3" name="Google Shape;883;g39eef7b789a_0_625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4" name="Google Shape;884;g39eef7b789a_0_625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5" name="Google Shape;885;g39eef7b789a_0_625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6" name="Google Shape;886;g39eef7b789a_0_625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7" name="Google Shape;887;g39eef7b789a_0_625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8" name="Google Shape;888;g39eef7b789a_0_625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89" name="Google Shape;889;g39eef7b789a_0_625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0" name="Google Shape;890;g39eef7b789a_0_625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1" name="Google Shape;891;g39eef7b789a_0_625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2" name="Google Shape;892;g39eef7b789a_0_625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3" name="Google Shape;893;g39eef7b789a_0_625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4" name="Google Shape;894;g39eef7b789a_0_625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895" name="Google Shape;895;g39eef7b789a_0_625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896" name="Google Shape;896;g39eef7b789a_0_625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7" name="Google Shape;897;g39eef7b789a_0_625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8" name="Google Shape;898;g39eef7b789a_0_625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9" name="Google Shape;899;g39eef7b789a_0_625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0" name="Google Shape;900;g39eef7b789a_0_625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1" name="Google Shape;901;g39eef7b789a_0_625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2" name="Google Shape;902;g39eef7b789a_0_625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3" name="Google Shape;903;g39eef7b789a_0_625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4" name="Google Shape;904;g39eef7b789a_0_625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5" name="Google Shape;905;g39eef7b789a_0_625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6" name="Google Shape;906;g39eef7b789a_0_625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7" name="Google Shape;907;g39eef7b789a_0_625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8" name="Google Shape;908;g39eef7b789a_0_625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9" name="Google Shape;909;g39eef7b789a_0_625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0" name="Google Shape;910;g39eef7b789a_0_625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1" name="Google Shape;911;g39eef7b789a_0_625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2" name="Google Shape;912;g39eef7b789a_0_625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3" name="Google Shape;913;g39eef7b789a_0_625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4" name="Google Shape;914;g39eef7b789a_0_625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5" name="Google Shape;915;g39eef7b789a_0_625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6" name="Google Shape;916;g39eef7b789a_0_625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7" name="Google Shape;917;g39eef7b789a_0_625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8" name="Google Shape;918;g39eef7b789a_0_625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9" name="Google Shape;919;g39eef7b789a_0_625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0" name="Google Shape;920;g39eef7b789a_0_625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1" name="Google Shape;921;g39eef7b789a_0_625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2" name="Google Shape;922;g39eef7b789a_0_625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3" name="Google Shape;923;g39eef7b789a_0_625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4" name="Google Shape;924;g39eef7b789a_0_625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5" name="Google Shape;925;g39eef7b789a_0_625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6" name="Google Shape;926;g39eef7b789a_0_625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7" name="Google Shape;927;g39eef7b789a_0_625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8" name="Google Shape;928;g39eef7b789a_0_625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9" name="Google Shape;929;g39eef7b789a_0_625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0" name="Google Shape;930;g39eef7b789a_0_625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31" name="Google Shape;931;g39eef7b789a_0_625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Key Achievements</a:t>
            </a:r>
            <a:endParaRPr sz="30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2" name="Google Shape;932;g39eef7b789a_0_625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933" name="Google Shape;933;g39eef7b789a_0_625"/>
          <p:cNvSpPr txBox="1"/>
          <p:nvPr/>
        </p:nvSpPr>
        <p:spPr>
          <a:xfrm>
            <a:off x="7483294" y="2282149"/>
            <a:ext cx="128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g39eef7b789a_0_625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935" name="Google Shape;935;g39eef7b789a_0_625"/>
          <p:cNvSpPr/>
          <p:nvPr/>
        </p:nvSpPr>
        <p:spPr>
          <a:xfrm>
            <a:off x="1960267" y="4958610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39eef7b789a_0_625"/>
          <p:cNvSpPr/>
          <p:nvPr/>
        </p:nvSpPr>
        <p:spPr>
          <a:xfrm>
            <a:off x="5133215" y="3730542"/>
            <a:ext cx="668336" cy="687388"/>
          </a:xfrm>
          <a:custGeom>
            <a:rect b="b" l="l" r="r" t="t"/>
            <a:pathLst>
              <a:path extrusionOk="0" h="3464" w="3366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g39eef7b789a_0_625"/>
          <p:cNvSpPr/>
          <p:nvPr/>
        </p:nvSpPr>
        <p:spPr>
          <a:xfrm>
            <a:off x="5130834" y="2538361"/>
            <a:ext cx="673101" cy="503238"/>
          </a:xfrm>
          <a:custGeom>
            <a:rect b="b" l="l" r="r" t="t"/>
            <a:pathLst>
              <a:path extrusionOk="0" h="2540" w="339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8" name="Google Shape;938;g39eef7b789a_0_625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939" name="Google Shape;939;g39eef7b789a_0_625"/>
            <p:cNvSpPr/>
            <p:nvPr/>
          </p:nvSpPr>
          <p:spPr>
            <a:xfrm>
              <a:off x="1120" y="444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g39eef7b789a_0_625"/>
            <p:cNvSpPr/>
            <p:nvPr/>
          </p:nvSpPr>
          <p:spPr>
            <a:xfrm>
              <a:off x="1120" y="517"/>
              <a:ext cx="57" cy="62"/>
            </a:xfrm>
            <a:custGeom>
              <a:rect b="b" l="l" r="r" t="t"/>
              <a:pathLst>
                <a:path extrusionOk="0" h="372" w="341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g39eef7b789a_0_625"/>
            <p:cNvSpPr/>
            <p:nvPr/>
          </p:nvSpPr>
          <p:spPr>
            <a:xfrm>
              <a:off x="1120" y="590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g39eef7b789a_0_625"/>
            <p:cNvSpPr/>
            <p:nvPr/>
          </p:nvSpPr>
          <p:spPr>
            <a:xfrm>
              <a:off x="1120" y="339"/>
              <a:ext cx="72" cy="73"/>
            </a:xfrm>
            <a:custGeom>
              <a:rect b="b" l="l" r="r" t="t"/>
              <a:pathLst>
                <a:path extrusionOk="0" h="433" w="43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g39eef7b789a_0_625"/>
            <p:cNvSpPr/>
            <p:nvPr/>
          </p:nvSpPr>
          <p:spPr>
            <a:xfrm>
              <a:off x="865" y="291"/>
              <a:ext cx="247" cy="422"/>
            </a:xfrm>
            <a:custGeom>
              <a:rect b="b" l="l" r="r" t="t"/>
              <a:pathLst>
                <a:path extrusionOk="0" h="2521" w="1472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g39eef7b789a_0_625"/>
            <p:cNvSpPr/>
            <p:nvPr/>
          </p:nvSpPr>
          <p:spPr>
            <a:xfrm>
              <a:off x="638" y="439"/>
              <a:ext cx="405" cy="391"/>
            </a:xfrm>
            <a:custGeom>
              <a:rect b="b" l="l" r="r" t="t"/>
              <a:pathLst>
                <a:path extrusionOk="0" h="2337" w="2416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5" name="Google Shape;945;g39eef7b789a_0_625"/>
          <p:cNvSpPr/>
          <p:nvPr/>
        </p:nvSpPr>
        <p:spPr>
          <a:xfrm>
            <a:off x="6549005" y="3730542"/>
            <a:ext cx="355601" cy="695322"/>
          </a:xfrm>
          <a:custGeom>
            <a:rect b="b" l="l" r="r" t="t"/>
            <a:pathLst>
              <a:path extrusionOk="0" h="3502" w="179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6" name="Google Shape;946;g39eef7b789a_0_6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g39eef7b789a_0_625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8" name="Google Shape;948;g39eef7b789a_0_625"/>
          <p:cNvSpPr txBox="1"/>
          <p:nvPr/>
        </p:nvSpPr>
        <p:spPr>
          <a:xfrm>
            <a:off x="166350" y="1277263"/>
            <a:ext cx="115953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successfully demonstrates a formal, end-to-end machine learning workflow on a complex, real-world dataset.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Comprehensive: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Successfully implemented all three major ML types: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Built a model with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81.2% R²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predict values.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Clustering: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Discovered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logical country profiles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K-Means.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Built a model with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85.7% Accuracy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predict categories.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 Process: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project involved an iterative process of diagnosing model failure (underfitting) and applying a more advanced model (Random Forest) to achieve a successful outcome.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Interpretable: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final models were not "black boxes"; their logic was analyzed to find key drivers (Feature Importance) and meaningful patterns (Cluster Profiles).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3" name="Google Shape;953;g39eef7b789a_0_726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954" name="Google Shape;954;g39eef7b789a_0_726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55" name="Google Shape;955;g39eef7b789a_0_726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956" name="Google Shape;956;g39eef7b789a_0_726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7" name="Google Shape;957;g39eef7b789a_0_726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8" name="Google Shape;958;g39eef7b789a_0_726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9" name="Google Shape;959;g39eef7b789a_0_726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0" name="Google Shape;960;g39eef7b789a_0_726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1" name="Google Shape;961;g39eef7b789a_0_726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2" name="Google Shape;962;g39eef7b789a_0_726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3" name="Google Shape;963;g39eef7b789a_0_726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4" name="Google Shape;964;g39eef7b789a_0_726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5" name="Google Shape;965;g39eef7b789a_0_726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6" name="Google Shape;966;g39eef7b789a_0_726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7" name="Google Shape;967;g39eef7b789a_0_726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8" name="Google Shape;968;g39eef7b789a_0_726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9" name="Google Shape;969;g39eef7b789a_0_726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0" name="Google Shape;970;g39eef7b789a_0_726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1" name="Google Shape;971;g39eef7b789a_0_726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2" name="Google Shape;972;g39eef7b789a_0_726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3" name="Google Shape;973;g39eef7b789a_0_726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4" name="Google Shape;974;g39eef7b789a_0_726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5" name="Google Shape;975;g39eef7b789a_0_726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6" name="Google Shape;976;g39eef7b789a_0_726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7" name="Google Shape;977;g39eef7b789a_0_726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8" name="Google Shape;978;g39eef7b789a_0_726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9" name="Google Shape;979;g39eef7b789a_0_726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0" name="Google Shape;980;g39eef7b789a_0_726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1" name="Google Shape;981;g39eef7b789a_0_726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2" name="Google Shape;982;g39eef7b789a_0_726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3" name="Google Shape;983;g39eef7b789a_0_726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4" name="Google Shape;984;g39eef7b789a_0_726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5" name="Google Shape;985;g39eef7b789a_0_726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6" name="Google Shape;986;g39eef7b789a_0_726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7" name="Google Shape;987;g39eef7b789a_0_726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8" name="Google Shape;988;g39eef7b789a_0_726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9" name="Google Shape;989;g39eef7b789a_0_726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0" name="Google Shape;990;g39eef7b789a_0_726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991" name="Google Shape;991;g39eef7b789a_0_726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992" name="Google Shape;992;g39eef7b789a_0_726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3" name="Google Shape;993;g39eef7b789a_0_726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4" name="Google Shape;994;g39eef7b789a_0_726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5" name="Google Shape;995;g39eef7b789a_0_726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6" name="Google Shape;996;g39eef7b789a_0_726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7" name="Google Shape;997;g39eef7b789a_0_726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8" name="Google Shape;998;g39eef7b789a_0_726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9" name="Google Shape;999;g39eef7b789a_0_726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0" name="Google Shape;1000;g39eef7b789a_0_726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1" name="Google Shape;1001;g39eef7b789a_0_726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2" name="Google Shape;1002;g39eef7b789a_0_726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3" name="Google Shape;1003;g39eef7b789a_0_726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4" name="Google Shape;1004;g39eef7b789a_0_726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5" name="Google Shape;1005;g39eef7b789a_0_726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6" name="Google Shape;1006;g39eef7b789a_0_726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7" name="Google Shape;1007;g39eef7b789a_0_726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8" name="Google Shape;1008;g39eef7b789a_0_726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9" name="Google Shape;1009;g39eef7b789a_0_726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0" name="Google Shape;1010;g39eef7b789a_0_726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1" name="Google Shape;1011;g39eef7b789a_0_726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2" name="Google Shape;1012;g39eef7b789a_0_726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3" name="Google Shape;1013;g39eef7b789a_0_726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4" name="Google Shape;1014;g39eef7b789a_0_726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5" name="Google Shape;1015;g39eef7b789a_0_726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6" name="Google Shape;1016;g39eef7b789a_0_726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7" name="Google Shape;1017;g39eef7b789a_0_726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8" name="Google Shape;1018;g39eef7b789a_0_726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9" name="Google Shape;1019;g39eef7b789a_0_726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0" name="Google Shape;1020;g39eef7b789a_0_726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1" name="Google Shape;1021;g39eef7b789a_0_726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2" name="Google Shape;1022;g39eef7b789a_0_726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3" name="Google Shape;1023;g39eef7b789a_0_726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4" name="Google Shape;1024;g39eef7b789a_0_726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5" name="Google Shape;1025;g39eef7b789a_0_726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6" name="Google Shape;1026;g39eef7b789a_0_726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27" name="Google Shape;1027;g39eef7b789a_0_726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8" name="Google Shape;1028;g39eef7b789a_0_726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029" name="Google Shape;1029;g39eef7b789a_0_726"/>
          <p:cNvSpPr txBox="1"/>
          <p:nvPr/>
        </p:nvSpPr>
        <p:spPr>
          <a:xfrm>
            <a:off x="7483294" y="2282149"/>
            <a:ext cx="128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g39eef7b789a_0_726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031" name="Google Shape;1031;g39eef7b789a_0_726"/>
          <p:cNvSpPr/>
          <p:nvPr/>
        </p:nvSpPr>
        <p:spPr>
          <a:xfrm>
            <a:off x="1960267" y="4958610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g39eef7b789a_0_726"/>
          <p:cNvSpPr/>
          <p:nvPr/>
        </p:nvSpPr>
        <p:spPr>
          <a:xfrm>
            <a:off x="5133215" y="3730542"/>
            <a:ext cx="668336" cy="687388"/>
          </a:xfrm>
          <a:custGeom>
            <a:rect b="b" l="l" r="r" t="t"/>
            <a:pathLst>
              <a:path extrusionOk="0" h="3464" w="3366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g39eef7b789a_0_726"/>
          <p:cNvSpPr/>
          <p:nvPr/>
        </p:nvSpPr>
        <p:spPr>
          <a:xfrm>
            <a:off x="5130834" y="2538361"/>
            <a:ext cx="673101" cy="503238"/>
          </a:xfrm>
          <a:custGeom>
            <a:rect b="b" l="l" r="r" t="t"/>
            <a:pathLst>
              <a:path extrusionOk="0" h="2540" w="339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4" name="Google Shape;1034;g39eef7b789a_0_726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1035" name="Google Shape;1035;g39eef7b789a_0_726"/>
            <p:cNvSpPr/>
            <p:nvPr/>
          </p:nvSpPr>
          <p:spPr>
            <a:xfrm>
              <a:off x="1120" y="444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g39eef7b789a_0_726"/>
            <p:cNvSpPr/>
            <p:nvPr/>
          </p:nvSpPr>
          <p:spPr>
            <a:xfrm>
              <a:off x="1120" y="517"/>
              <a:ext cx="57" cy="62"/>
            </a:xfrm>
            <a:custGeom>
              <a:rect b="b" l="l" r="r" t="t"/>
              <a:pathLst>
                <a:path extrusionOk="0" h="372" w="341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g39eef7b789a_0_726"/>
            <p:cNvSpPr/>
            <p:nvPr/>
          </p:nvSpPr>
          <p:spPr>
            <a:xfrm>
              <a:off x="1120" y="590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g39eef7b789a_0_726"/>
            <p:cNvSpPr/>
            <p:nvPr/>
          </p:nvSpPr>
          <p:spPr>
            <a:xfrm>
              <a:off x="1120" y="339"/>
              <a:ext cx="72" cy="73"/>
            </a:xfrm>
            <a:custGeom>
              <a:rect b="b" l="l" r="r" t="t"/>
              <a:pathLst>
                <a:path extrusionOk="0" h="433" w="43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g39eef7b789a_0_726"/>
            <p:cNvSpPr/>
            <p:nvPr/>
          </p:nvSpPr>
          <p:spPr>
            <a:xfrm>
              <a:off x="865" y="291"/>
              <a:ext cx="247" cy="422"/>
            </a:xfrm>
            <a:custGeom>
              <a:rect b="b" l="l" r="r" t="t"/>
              <a:pathLst>
                <a:path extrusionOk="0" h="2521" w="1472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g39eef7b789a_0_726"/>
            <p:cNvSpPr/>
            <p:nvPr/>
          </p:nvSpPr>
          <p:spPr>
            <a:xfrm>
              <a:off x="638" y="439"/>
              <a:ext cx="405" cy="391"/>
            </a:xfrm>
            <a:custGeom>
              <a:rect b="b" l="l" r="r" t="t"/>
              <a:pathLst>
                <a:path extrusionOk="0" h="2337" w="2416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1" name="Google Shape;1041;g39eef7b789a_0_726"/>
          <p:cNvSpPr/>
          <p:nvPr/>
        </p:nvSpPr>
        <p:spPr>
          <a:xfrm>
            <a:off x="6549005" y="3730542"/>
            <a:ext cx="355601" cy="695322"/>
          </a:xfrm>
          <a:custGeom>
            <a:rect b="b" l="l" r="r" t="t"/>
            <a:pathLst>
              <a:path extrusionOk="0" h="3502" w="179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2" name="Google Shape;1042;g39eef7b789a_0_7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g39eef7b789a_0_726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4" name="Google Shape;1044;g39eef7b789a_0_726"/>
          <p:cNvSpPr txBox="1"/>
          <p:nvPr/>
        </p:nvSpPr>
        <p:spPr>
          <a:xfrm>
            <a:off x="166350" y="818012"/>
            <a:ext cx="11595300" cy="54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!!!</a:t>
            </a:r>
            <a:endParaRPr b="1" sz="45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Project Repository Link: </a:t>
            </a:r>
            <a:r>
              <a:rPr b="1" lang="en-US" sz="19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ML_UN_SDG_Mini_Project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Drive Project Folder Link: </a:t>
            </a:r>
            <a:r>
              <a:rPr b="1" lang="en-US" sz="19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ML Mini Project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2024-06-03T04:50:38Z</dcterms:created>
  <dc:creator>admin</dc:creator>
</cp:coreProperties>
</file>